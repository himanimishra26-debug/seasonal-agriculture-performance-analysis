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5033" autoAdjust="0"/>
  </p:normalViewPr>
  <p:slideViewPr>
    <p:cSldViewPr snapToGrid="0">
      <p:cViewPr varScale="1">
        <p:scale>
          <a:sx n="95" d="100"/>
          <a:sy n="95" d="100"/>
        </p:scale>
        <p:origin x="163"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176157" y="3583914"/>
            <a:ext cx="4408714" cy="861497"/>
          </a:xfrm>
        </p:spPr>
        <p:txBody>
          <a:bodyPr vert="horz" lIns="91440" tIns="45720" rIns="91440" bIns="45720" rtlCol="0" anchor="t">
            <a:normAutofit lnSpcReduction="10000"/>
          </a:bodyPr>
          <a:lstStyle/>
          <a:p>
            <a:pPr algn="r"/>
            <a:r>
              <a:rPr lang="en-US" sz="2400" b="0" dirty="0">
                <a:solidFill>
                  <a:schemeClr val="tx1"/>
                </a:solidFill>
              </a:rPr>
              <a:t>Himani Mishra </a:t>
            </a:r>
            <a:endParaRPr lang="en-IN" sz="2400" b="0" dirty="0">
              <a:solidFill>
                <a:schemeClr val="tx1"/>
              </a:solidFill>
            </a:endParaRPr>
          </a:p>
          <a:p>
            <a:pPr algn="r"/>
            <a:r>
              <a:rPr lang="en-US" b="0" dirty="0">
                <a:solidFill>
                  <a:schemeClr val="tx1"/>
                </a:solidFill>
              </a:rPr>
              <a:t>Amrapali Group Of Institutes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662943"/>
            <a:ext cx="9034596" cy="925255"/>
          </a:xfrm>
        </p:spPr>
        <p:txBody>
          <a:bodyPr>
            <a:normAutofit/>
          </a:bodyPr>
          <a:lstStyle/>
          <a:p>
            <a:r>
              <a:rPr lang="en-GB" sz="3200" dirty="0"/>
              <a:t>Project Title - Seasonal Agriculture Performance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4261757" y="4509169"/>
            <a:ext cx="5323113" cy="369332"/>
          </a:xfrm>
          <a:prstGeom prst="rect">
            <a:avLst/>
          </a:prstGeom>
          <a:noFill/>
        </p:spPr>
        <p:txBody>
          <a:bodyPr wrap="square" rtlCol="0">
            <a:spAutoFit/>
          </a:bodyPr>
          <a:lstStyle/>
          <a:p>
            <a:r>
              <a:rPr lang="en-US" b="1" dirty="0"/>
              <a:t>AICTE STU ID : STU6a6a20fe82e5e1785340158</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Autofit/>
          </a:bodyPr>
          <a:lstStyle/>
          <a:p>
            <a:pPr marL="0" indent="0">
              <a:lnSpc>
                <a:spcPct val="100000"/>
              </a:lnSpc>
              <a:buNone/>
            </a:pPr>
            <a:r>
              <a:rPr lang="en-US"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a:bodyPr>
          <a:lstStyle/>
          <a:p>
            <a:r>
              <a:rPr lang="en-US" dirty="0"/>
              <a:t>Project Description:</a:t>
            </a: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3E951C27-C280-B0A8-DF1C-77F55313A933}"/>
              </a:ext>
            </a:extLst>
          </p:cNvPr>
          <p:cNvSpPr txBox="1"/>
          <p:nvPr/>
        </p:nvSpPr>
        <p:spPr>
          <a:xfrm>
            <a:off x="467359" y="2251120"/>
            <a:ext cx="8839926" cy="2677656"/>
          </a:xfrm>
          <a:prstGeom prst="rect">
            <a:avLst/>
          </a:prstGeom>
          <a:noFill/>
        </p:spPr>
        <p:txBody>
          <a:bodyPr wrap="square" rtlCol="0">
            <a:spAutoFit/>
          </a:bodyPr>
          <a:lstStyle/>
          <a:p>
            <a:r>
              <a:rPr lang="en-US" sz="2400" dirty="0">
                <a:solidFill>
                  <a:srgbClr val="333333"/>
                </a:solidFill>
              </a:rPr>
              <a:t>This project analyzes seasonal agricultural performance using a dataset of 4,000 farm records across Indian states. It explores how yield, profit, cost, and resource usage vary across the Kharif, Rabi, and Zaid seasons, using Python-based data cleaning, exploratory data analysis, and correlation techniques to uncover meaningful patterns and provide data-driven recommendations for improving agricultural outcomes.</a:t>
            </a:r>
            <a:endParaRPr lang="en-IN" sz="2400"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a:spcAft>
                <a:spcPts val="1000"/>
              </a:spcAft>
              <a:buChar char="•"/>
            </a:pPr>
            <a:r>
              <a:rPr lang="en-US" sz="2400" dirty="0">
                <a:solidFill>
                  <a:srgbClr val="333333"/>
                </a:solidFill>
              </a:rPr>
              <a:t>Farmers seeking to understand seasonal profitability and better crop and irrigation choices.</a:t>
            </a:r>
          </a:p>
          <a:p>
            <a:pPr>
              <a:spcAft>
                <a:spcPts val="1000"/>
              </a:spcAft>
              <a:buChar char="•"/>
            </a:pPr>
            <a:r>
              <a:rPr lang="en-US" sz="2400" dirty="0">
                <a:solidFill>
                  <a:srgbClr val="333333"/>
                </a:solidFill>
              </a:rPr>
              <a:t>Agricultural policy makers planning seasonal support and irrigation subsidy programs.</a:t>
            </a:r>
          </a:p>
          <a:p>
            <a:pPr>
              <a:spcAft>
                <a:spcPts val="1000"/>
              </a:spcAft>
              <a:buChar char="•"/>
            </a:pPr>
            <a:r>
              <a:rPr lang="en-US" sz="2400" dirty="0">
                <a:solidFill>
                  <a:srgbClr val="333333"/>
                </a:solidFill>
              </a:rPr>
              <a:t>Agri-business analysts studying regional and seasonal performance trends.</a:t>
            </a:r>
          </a:p>
          <a:p>
            <a:pPr>
              <a:spcAft>
                <a:spcPts val="1000"/>
              </a:spcAft>
              <a:buChar char="•"/>
            </a:pPr>
            <a:r>
              <a:rPr lang="en-US" sz="2400" dirty="0">
                <a:solidFill>
                  <a:srgbClr val="333333"/>
                </a:solidFill>
              </a:rPr>
              <a:t>Researchers studying seasonal farming patterns and resource efficiency.</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453242" y="1278384"/>
            <a:ext cx="5078185" cy="4977901"/>
          </a:xfrm>
        </p:spPr>
        <p:txBody>
          <a:bodyPr>
            <a:normAutofit/>
          </a:bodyPr>
          <a:lstStyle/>
          <a:p>
            <a:pPr>
              <a:spcAft>
                <a:spcPts val="800"/>
              </a:spcAft>
              <a:buChar char="•"/>
            </a:pPr>
            <a:r>
              <a:rPr lang="en-IN" b="1" dirty="0">
                <a:solidFill>
                  <a:srgbClr val="222222"/>
                </a:solidFill>
              </a:rPr>
              <a:t>Pandas</a:t>
            </a:r>
          </a:p>
          <a:p>
            <a:pPr>
              <a:spcAft>
                <a:spcPts val="800"/>
              </a:spcAft>
              <a:buChar char="•"/>
            </a:pPr>
            <a:r>
              <a:rPr lang="en-IN" b="1" dirty="0">
                <a:solidFill>
                  <a:srgbClr val="222222"/>
                </a:solidFill>
              </a:rPr>
              <a:t>NumPy</a:t>
            </a:r>
          </a:p>
          <a:p>
            <a:pPr>
              <a:spcAft>
                <a:spcPts val="800"/>
              </a:spcAft>
              <a:buChar char="•"/>
            </a:pPr>
            <a:r>
              <a:rPr lang="en-IN" b="1" dirty="0">
                <a:solidFill>
                  <a:srgbClr val="222222"/>
                </a:solidFill>
              </a:rPr>
              <a:t>Matplotlib</a:t>
            </a:r>
          </a:p>
          <a:p>
            <a:pPr>
              <a:spcAft>
                <a:spcPts val="800"/>
              </a:spcAft>
              <a:buChar char="•"/>
            </a:pPr>
            <a:r>
              <a:rPr lang="en-IN" b="1" dirty="0">
                <a:solidFill>
                  <a:srgbClr val="222222"/>
                </a:solidFill>
              </a:rPr>
              <a:t>Python</a:t>
            </a:r>
          </a:p>
          <a:p>
            <a:pPr>
              <a:spcAft>
                <a:spcPts val="800"/>
              </a:spcAft>
              <a:buChar char="•"/>
            </a:pPr>
            <a:r>
              <a:rPr lang="en-IN" b="1" dirty="0">
                <a:solidFill>
                  <a:srgbClr val="222222"/>
                </a:solidFill>
              </a:rPr>
              <a:t>Seaborn</a:t>
            </a:r>
            <a:endParaRPr lang="en-IN" b="1"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fontScale="90000"/>
          </a:bodyPr>
          <a:lstStyle/>
          <a:p>
            <a:r>
              <a:rPr lang="en-GB" dirty="0"/>
              <a:t>RESULT 1:</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48406102-2499-50E3-35EC-B375019DD21E}"/>
              </a:ext>
            </a:extLst>
          </p:cNvPr>
          <p:cNvPicPr>
            <a:picLocks noChangeAspect="1"/>
          </p:cNvPicPr>
          <p:nvPr/>
        </p:nvPicPr>
        <p:blipFill>
          <a:blip r:embed="rId3"/>
          <a:stretch>
            <a:fillRect/>
          </a:stretch>
        </p:blipFill>
        <p:spPr>
          <a:xfrm>
            <a:off x="675957" y="1461332"/>
            <a:ext cx="7513971" cy="2245254"/>
          </a:xfrm>
          <a:prstGeom prst="rect">
            <a:avLst/>
          </a:prstGeom>
        </p:spPr>
      </p:pic>
      <p:sp>
        <p:nvSpPr>
          <p:cNvPr id="6" name="TextBox 5">
            <a:extLst>
              <a:ext uri="{FF2B5EF4-FFF2-40B4-BE49-F238E27FC236}">
                <a16:creationId xmlns:a16="http://schemas.microsoft.com/office/drawing/2014/main" id="{59A3988C-AAF0-C88A-92EC-E182DC5D0CA1}"/>
              </a:ext>
            </a:extLst>
          </p:cNvPr>
          <p:cNvSpPr txBox="1"/>
          <p:nvPr/>
        </p:nvSpPr>
        <p:spPr>
          <a:xfrm>
            <a:off x="675957" y="4098470"/>
            <a:ext cx="7513971" cy="1477328"/>
          </a:xfrm>
          <a:prstGeom prst="rect">
            <a:avLst/>
          </a:prstGeom>
          <a:noFill/>
        </p:spPr>
        <p:txBody>
          <a:bodyPr wrap="square" rtlCol="0">
            <a:spAutoFit/>
          </a:bodyPr>
          <a:lstStyle/>
          <a:p>
            <a:r>
              <a:rPr lang="en-US">
                <a:solidFill>
                  <a:srgbClr val="333333"/>
                </a:solidFill>
              </a:rPr>
              <a:t>Season-wise averages show Zaid has the highest cost (Rs. 543,977) but the lowest revenue (Rs. 519,172), resulting in a negative average profit of Rs. -24,805. Kharif has a reasonable cost and the highest revenue (Rs. 710,719), giving it the strongest profit margin among all seasons.</a:t>
            </a:r>
            <a:endParaRPr lang="en-US" dirty="0">
              <a:solidFill>
                <a:srgbClr val="333333"/>
              </a:solidFill>
            </a:endParaRP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fontScale="90000"/>
          </a:bodyPr>
          <a:lstStyle/>
          <a:p>
            <a:r>
              <a:rPr lang="en-GB" dirty="0"/>
              <a:t>RESULT 2: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256AAB82-9651-DE2E-297F-D7F5340421B7}"/>
              </a:ext>
            </a:extLst>
          </p:cNvPr>
          <p:cNvPicPr>
            <a:picLocks noChangeAspect="1"/>
          </p:cNvPicPr>
          <p:nvPr/>
        </p:nvPicPr>
        <p:blipFill>
          <a:blip r:embed="rId3"/>
          <a:stretch>
            <a:fillRect/>
          </a:stretch>
        </p:blipFill>
        <p:spPr>
          <a:xfrm>
            <a:off x="503642" y="1082636"/>
            <a:ext cx="8477072" cy="3969524"/>
          </a:xfrm>
          <a:prstGeom prst="rect">
            <a:avLst/>
          </a:prstGeom>
        </p:spPr>
      </p:pic>
      <p:sp>
        <p:nvSpPr>
          <p:cNvPr id="6" name="TextBox 5">
            <a:extLst>
              <a:ext uri="{FF2B5EF4-FFF2-40B4-BE49-F238E27FC236}">
                <a16:creationId xmlns:a16="http://schemas.microsoft.com/office/drawing/2014/main" id="{89420365-4E88-931C-0E95-9FDEF186EADE}"/>
              </a:ext>
            </a:extLst>
          </p:cNvPr>
          <p:cNvSpPr txBox="1"/>
          <p:nvPr/>
        </p:nvSpPr>
        <p:spPr>
          <a:xfrm>
            <a:off x="675957" y="5300375"/>
            <a:ext cx="8304757" cy="923330"/>
          </a:xfrm>
          <a:prstGeom prst="rect">
            <a:avLst/>
          </a:prstGeom>
          <a:noFill/>
        </p:spPr>
        <p:txBody>
          <a:bodyPr wrap="square" rtlCol="0">
            <a:spAutoFit/>
          </a:bodyPr>
          <a:lstStyle/>
          <a:p>
            <a:r>
              <a:rPr lang="en-US" dirty="0">
                <a:solidFill>
                  <a:srgbClr val="333333"/>
                </a:solidFill>
              </a:rPr>
              <a:t>Sugarcane and Chilli are the most profitable crops, both averaging over Rs. 700,000 in profit, while Wheat, Maize, and Rice show negative average profit, meaning many farms growing these staple crops are operating at a loss.</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fontScale="90000"/>
          </a:bodyPr>
          <a:lstStyle/>
          <a:p>
            <a:r>
              <a:rPr lang="en-GB" dirty="0"/>
              <a:t>RESULT 3:</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30742A4D-8826-9497-43C3-8F061E946764}"/>
              </a:ext>
            </a:extLst>
          </p:cNvPr>
          <p:cNvPicPr>
            <a:picLocks noChangeAspect="1"/>
          </p:cNvPicPr>
          <p:nvPr/>
        </p:nvPicPr>
        <p:blipFill>
          <a:blip r:embed="rId3"/>
          <a:stretch>
            <a:fillRect/>
          </a:stretch>
        </p:blipFill>
        <p:spPr>
          <a:xfrm>
            <a:off x="643589" y="1110025"/>
            <a:ext cx="8729300" cy="4115118"/>
          </a:xfrm>
          <a:prstGeom prst="rect">
            <a:avLst/>
          </a:prstGeom>
        </p:spPr>
      </p:pic>
      <p:sp>
        <p:nvSpPr>
          <p:cNvPr id="6" name="TextBox 5">
            <a:extLst>
              <a:ext uri="{FF2B5EF4-FFF2-40B4-BE49-F238E27FC236}">
                <a16:creationId xmlns:a16="http://schemas.microsoft.com/office/drawing/2014/main" id="{45C09B8B-16E9-381C-A8DA-B91565FD3659}"/>
              </a:ext>
            </a:extLst>
          </p:cNvPr>
          <p:cNvSpPr txBox="1"/>
          <p:nvPr/>
        </p:nvSpPr>
        <p:spPr>
          <a:xfrm>
            <a:off x="807164" y="5225143"/>
            <a:ext cx="8402150" cy="1200329"/>
          </a:xfrm>
          <a:prstGeom prst="rect">
            <a:avLst/>
          </a:prstGeom>
          <a:noFill/>
        </p:spPr>
        <p:txBody>
          <a:bodyPr wrap="square" rtlCol="0">
            <a:spAutoFit/>
          </a:bodyPr>
          <a:lstStyle/>
          <a:p>
            <a:r>
              <a:rPr lang="en-US" dirty="0">
                <a:solidFill>
                  <a:srgbClr val="333333"/>
                </a:solidFill>
              </a:rPr>
              <a:t>Profit varies widely within every season, with some farms earning over Rs. 40 lakh and others losing over Rs. 10 lakh. </a:t>
            </a:r>
            <a:r>
              <a:rPr lang="en-US" dirty="0" err="1">
                <a:solidFill>
                  <a:srgbClr val="333333"/>
                </a:solidFill>
              </a:rPr>
              <a:t>Kharif's</a:t>
            </a:r>
            <a:r>
              <a:rPr lang="en-US" dirty="0">
                <a:solidFill>
                  <a:srgbClr val="333333"/>
                </a:solidFill>
              </a:rPr>
              <a:t> median profit is clearly above zero, Rabi's is close to zero, and Zaid's median sits below zero, meaning more than half of Zaid's farms operate at a loss.</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fontScale="90000"/>
          </a:bodyPr>
          <a:lstStyle/>
          <a:p>
            <a:r>
              <a:rPr lang="en-GB" dirty="0"/>
              <a:t>RESULT 4:</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2B5A7394-640D-9F45-9479-1A5B129301B2}"/>
              </a:ext>
            </a:extLst>
          </p:cNvPr>
          <p:cNvPicPr>
            <a:picLocks noChangeAspect="1"/>
          </p:cNvPicPr>
          <p:nvPr/>
        </p:nvPicPr>
        <p:blipFill>
          <a:blip r:embed="rId3"/>
          <a:stretch>
            <a:fillRect/>
          </a:stretch>
        </p:blipFill>
        <p:spPr>
          <a:xfrm>
            <a:off x="475431" y="1357925"/>
            <a:ext cx="8895064" cy="3766130"/>
          </a:xfrm>
          <a:prstGeom prst="rect">
            <a:avLst/>
          </a:prstGeom>
        </p:spPr>
      </p:pic>
      <p:sp>
        <p:nvSpPr>
          <p:cNvPr id="6" name="TextBox 5">
            <a:extLst>
              <a:ext uri="{FF2B5EF4-FFF2-40B4-BE49-F238E27FC236}">
                <a16:creationId xmlns:a16="http://schemas.microsoft.com/office/drawing/2014/main" id="{A61C5801-FE46-A966-5FD3-B1F10802233E}"/>
              </a:ext>
            </a:extLst>
          </p:cNvPr>
          <p:cNvSpPr txBox="1"/>
          <p:nvPr/>
        </p:nvSpPr>
        <p:spPr>
          <a:xfrm>
            <a:off x="807164" y="5197823"/>
            <a:ext cx="8451135" cy="1200329"/>
          </a:xfrm>
          <a:prstGeom prst="rect">
            <a:avLst/>
          </a:prstGeom>
          <a:noFill/>
        </p:spPr>
        <p:txBody>
          <a:bodyPr wrap="square" rtlCol="0">
            <a:spAutoFit/>
          </a:bodyPr>
          <a:lstStyle/>
          <a:p>
            <a:r>
              <a:rPr lang="en-US">
                <a:solidFill>
                  <a:srgbClr val="333333"/>
                </a:solidFill>
              </a:rPr>
              <a:t>Drip irrigation gives the highest average profit (about Rs. 220,000), nearly triple that of Flood irrigation (about Rs. 73,000). This links directly to water efficiency, suggesting farmers using Flood irrigation could improve profitability by switching to Drip systems.</a:t>
            </a:r>
            <a:endParaRPr lang="en-US" dirty="0">
              <a:solidFill>
                <a:srgbClr val="333333"/>
              </a:solidFill>
            </a:endParaRP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fontScale="90000"/>
          </a:bodyPr>
          <a:lstStyle/>
          <a:p>
            <a:r>
              <a:rPr lang="en-GB" dirty="0"/>
              <a:t>RESULT 5:</a:t>
            </a:r>
            <a:br>
              <a:rPr lang="en-GB" dirty="0"/>
            </a:b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842E4B80-6FA6-7801-AD31-0BD7433A6B5A}"/>
              </a:ext>
            </a:extLst>
          </p:cNvPr>
          <p:cNvPicPr>
            <a:picLocks noChangeAspect="1"/>
          </p:cNvPicPr>
          <p:nvPr/>
        </p:nvPicPr>
        <p:blipFill>
          <a:blip r:embed="rId3"/>
          <a:stretch>
            <a:fillRect/>
          </a:stretch>
        </p:blipFill>
        <p:spPr>
          <a:xfrm>
            <a:off x="403514" y="1217679"/>
            <a:ext cx="8887443" cy="4147458"/>
          </a:xfrm>
          <a:prstGeom prst="rect">
            <a:avLst/>
          </a:prstGeom>
        </p:spPr>
      </p:pic>
      <p:sp>
        <p:nvSpPr>
          <p:cNvPr id="9" name="TextBox 8">
            <a:extLst>
              <a:ext uri="{FF2B5EF4-FFF2-40B4-BE49-F238E27FC236}">
                <a16:creationId xmlns:a16="http://schemas.microsoft.com/office/drawing/2014/main" id="{66302269-0C03-8974-5F07-68A42A971305}"/>
              </a:ext>
            </a:extLst>
          </p:cNvPr>
          <p:cNvSpPr txBox="1"/>
          <p:nvPr/>
        </p:nvSpPr>
        <p:spPr>
          <a:xfrm>
            <a:off x="807165" y="5365137"/>
            <a:ext cx="8483792" cy="1200329"/>
          </a:xfrm>
          <a:prstGeom prst="rect">
            <a:avLst/>
          </a:prstGeom>
          <a:noFill/>
        </p:spPr>
        <p:txBody>
          <a:bodyPr wrap="square" rtlCol="0">
            <a:spAutoFit/>
          </a:bodyPr>
          <a:lstStyle/>
          <a:p>
            <a:r>
              <a:rPr lang="en-US">
                <a:solidFill>
                  <a:srgbClr val="333333"/>
                </a:solidFill>
              </a:rPr>
              <a:t>This heatmap shows that profit depends on crop choice and season together. Sugarcane in Kharif is the most profitable combination (about Rs. 10 lakh), while Rice, Wheat, and Maize remain loss-making in every season, with losses worsening in Zaid</a:t>
            </a:r>
            <a:endParaRPr lang="en-IN" dirty="0"/>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796272" y="940082"/>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412B77EF-4BEB-1292-F6EF-EAE56DB163EE}"/>
              </a:ext>
            </a:extLst>
          </p:cNvPr>
          <p:cNvSpPr txBox="1"/>
          <p:nvPr/>
        </p:nvSpPr>
        <p:spPr>
          <a:xfrm>
            <a:off x="906379" y="2045722"/>
            <a:ext cx="8115300" cy="3108543"/>
          </a:xfrm>
          <a:prstGeom prst="rect">
            <a:avLst/>
          </a:prstGeom>
          <a:noFill/>
        </p:spPr>
        <p:txBody>
          <a:bodyPr wrap="square" rtlCol="0">
            <a:spAutoFit/>
          </a:bodyPr>
          <a:lstStyle/>
          <a:p>
            <a:r>
              <a:rPr lang="en-US" sz="2800" dirty="0">
                <a:solidFill>
                  <a:srgbClr val="333333"/>
                </a:solidFill>
              </a:rPr>
              <a:t>This analysis can be extended by incorporating machine learning models to predict crop yield and profit based on seasonal and environmental factors. Integrating real-time weather data and building an interactive dashboard would further help farmers make more timely data-driven decisions across seasons.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788251" y="828111"/>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941527" y="2207763"/>
            <a:ext cx="7232875" cy="707886"/>
          </a:xfrm>
          <a:prstGeom prst="rect">
            <a:avLst/>
          </a:prstGeom>
          <a:noFill/>
        </p:spPr>
        <p:txBody>
          <a:bodyPr wrap="square">
            <a:spAutoFit/>
          </a:bodyPr>
          <a:lstStyle/>
          <a:p>
            <a:r>
              <a:rPr lang="en-US" sz="2000" dirty="0"/>
              <a:t>https://github.com/himanimishra26-debug/Seasonal-Agriculture-Performance-Analysis.git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FC52628B-E33D-8E21-A74E-6CA3D96042CD}"/>
              </a:ext>
            </a:extLst>
          </p:cNvPr>
          <p:cNvPicPr>
            <a:picLocks noChangeAspect="1"/>
          </p:cNvPicPr>
          <p:nvPr/>
        </p:nvPicPr>
        <p:blipFill>
          <a:blip r:embed="rId3"/>
          <a:stretch>
            <a:fillRect/>
          </a:stretch>
        </p:blipFill>
        <p:spPr>
          <a:xfrm>
            <a:off x="504814" y="1402204"/>
            <a:ext cx="7000610" cy="4933282"/>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97560" y="2142999"/>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VOIS_Major_Project_PPT_Submission_Template (1)</Template>
  <TotalTime>8</TotalTime>
  <Words>577</Words>
  <Application>Microsoft Office PowerPoint</Application>
  <PresentationFormat>Widescreen</PresentationFormat>
  <Paragraphs>38</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vt:lpstr>
      <vt:lpstr>PROBLEM  STATEMENT</vt:lpstr>
      <vt:lpstr>Project Description:</vt:lpstr>
      <vt:lpstr>WHO ARE THE END USERS?</vt:lpstr>
      <vt:lpstr>Technology Used:</vt:lpstr>
      <vt:lpstr>RESULT 1:</vt:lpstr>
      <vt:lpstr>RESULT 2: </vt:lpstr>
      <vt:lpstr>RESULT 3:</vt:lpstr>
      <vt:lpstr>RESULT 4:</vt:lpstr>
      <vt:lpstr>RESULT 5: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Himani Mishra</dc:creator>
  <cp:lastModifiedBy>Himani Mishra</cp:lastModifiedBy>
  <cp:revision>2</cp:revision>
  <dcterms:created xsi:type="dcterms:W3CDTF">2026-09-05T16:47:57Z</dcterms:created>
  <dcterms:modified xsi:type="dcterms:W3CDTF">2026-09-05T17:22:25Z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